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1993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03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699ACA-78C6-9848-8EE2-9B49B89A35CF}" v="228" dt="2025-08-22T02:17:16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0"/>
    <p:restoredTop sz="94702"/>
  </p:normalViewPr>
  <p:slideViewPr>
    <p:cSldViewPr snapToGrid="0">
      <p:cViewPr>
        <p:scale>
          <a:sx n="108" d="100"/>
          <a:sy n="108" d="100"/>
        </p:scale>
        <p:origin x="2232" y="-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ixuan WANG" userId="b920bebc-69e6-4759-b395-6956eb3510c2" providerId="ADAL" clId="{77574B8A-058B-519F-B412-A64A8C9D93EB}"/>
    <pc:docChg chg="undo custSel modSld">
      <pc:chgData name="Ruixuan WANG" userId="b920bebc-69e6-4759-b395-6956eb3510c2" providerId="ADAL" clId="{77574B8A-058B-519F-B412-A64A8C9D93EB}" dt="2025-08-22T02:17:16.826" v="348"/>
      <pc:docMkLst>
        <pc:docMk/>
      </pc:docMkLst>
      <pc:sldChg chg="modSp mod">
        <pc:chgData name="Ruixuan WANG" userId="b920bebc-69e6-4759-b395-6956eb3510c2" providerId="ADAL" clId="{77574B8A-058B-519F-B412-A64A8C9D93EB}" dt="2025-08-22T02:17:16.826" v="348"/>
        <pc:sldMkLst>
          <pc:docMk/>
          <pc:sldMk cId="1814931577" sldId="256"/>
        </pc:sldMkLst>
        <pc:spChg chg="mod">
          <ac:chgData name="Ruixuan WANG" userId="b920bebc-69e6-4759-b395-6956eb3510c2" providerId="ADAL" clId="{77574B8A-058B-519F-B412-A64A8C9D93EB}" dt="2025-08-22T02:14:36.712" v="1" actId="14861"/>
          <ac:spMkLst>
            <pc:docMk/>
            <pc:sldMk cId="1814931577" sldId="256"/>
            <ac:spMk id="6" creationId="{2F69BAB3-9202-3D58-0A60-2CFC17765563}"/>
          </ac:spMkLst>
        </pc:spChg>
        <pc:spChg chg="mod">
          <ac:chgData name="Ruixuan WANG" userId="b920bebc-69e6-4759-b395-6956eb3510c2" providerId="ADAL" clId="{77574B8A-058B-519F-B412-A64A8C9D93EB}" dt="2025-08-22T02:16:17.045" v="347" actId="14838"/>
          <ac:spMkLst>
            <pc:docMk/>
            <pc:sldMk cId="1814931577" sldId="256"/>
            <ac:spMk id="18777" creationId="{173D88FD-A5FF-A97F-68ED-CFBEB18ADDB7}"/>
          </ac:spMkLst>
        </pc:spChg>
        <pc:spChg chg="mod">
          <ac:chgData name="Ruixuan WANG" userId="b920bebc-69e6-4759-b395-6956eb3510c2" providerId="ADAL" clId="{77574B8A-058B-519F-B412-A64A8C9D93EB}" dt="2025-08-22T02:17:16.826" v="348"/>
          <ac:spMkLst>
            <pc:docMk/>
            <pc:sldMk cId="1814931577" sldId="256"/>
            <ac:spMk id="18893" creationId="{53FC06E8-1052-D8EE-834C-71CEEA1D0C4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767462"/>
            <a:ext cx="6119416" cy="375991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5672376"/>
            <a:ext cx="5399485" cy="260744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67512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977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692444"/>
            <a:ext cx="6209407" cy="4492401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7227345"/>
            <a:ext cx="6209407" cy="236244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5121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874937"/>
            <a:ext cx="3059708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874937"/>
            <a:ext cx="3059708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987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574990"/>
            <a:ext cx="6209407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647443"/>
            <a:ext cx="3045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944914"/>
            <a:ext cx="304564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647443"/>
            <a:ext cx="3060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944914"/>
            <a:ext cx="306064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357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5754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420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554968"/>
            <a:ext cx="3644652" cy="7674832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4647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554968"/>
            <a:ext cx="3644652" cy="7674832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3648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78838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574987"/>
            <a:ext cx="1552352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574987"/>
            <a:ext cx="4567064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9893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574990"/>
            <a:ext cx="6209407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874937"/>
            <a:ext cx="6209407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7DECD-CD79-8E48-BB25-FAED25690D23}" type="datetimeFigureOut">
              <a:rPr lang="en-CN" smtClean="0"/>
              <a:t>2025/8/22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0009783"/>
            <a:ext cx="242976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E4B11-7C91-9649-9604-C2EAADEEB6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064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svg"/><Relationship Id="rId34" Type="http://schemas.openxmlformats.org/officeDocument/2006/relationships/image" Target="../media/image33.sv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sv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20" Type="http://schemas.openxmlformats.org/officeDocument/2006/relationships/image" Target="../media/image19.png"/><Relationship Id="rId41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ED62B8-8A59-F2CE-91FA-466D5F9B340D}"/>
              </a:ext>
            </a:extLst>
          </p:cNvPr>
          <p:cNvSpPr/>
          <p:nvPr/>
        </p:nvSpPr>
        <p:spPr>
          <a:xfrm>
            <a:off x="267464" y="681179"/>
            <a:ext cx="390293" cy="2446959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上游数据处理及数据库搭建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F69BAB3-9202-3D58-0A60-2CFC17765563}"/>
              </a:ext>
            </a:extLst>
          </p:cNvPr>
          <p:cNvSpPr/>
          <p:nvPr/>
        </p:nvSpPr>
        <p:spPr>
          <a:xfrm>
            <a:off x="743084" y="675382"/>
            <a:ext cx="5546852" cy="2446959"/>
          </a:xfrm>
          <a:prstGeom prst="roundRect">
            <a:avLst>
              <a:gd name="adj" fmla="val 3116"/>
            </a:avLst>
          </a:prstGeom>
          <a:solidFill>
            <a:schemeClr val="tx2">
              <a:lumMod val="10000"/>
              <a:lumOff val="90000"/>
              <a:alpha val="30000"/>
            </a:schemeClr>
          </a:solidFill>
          <a:ln w="15875"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F7CBE42-60F9-9F18-D469-80B86E65BAB7}"/>
              </a:ext>
            </a:extLst>
          </p:cNvPr>
          <p:cNvSpPr/>
          <p:nvPr/>
        </p:nvSpPr>
        <p:spPr>
          <a:xfrm>
            <a:off x="267464" y="3256155"/>
            <a:ext cx="390293" cy="2612831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宿主内进化动力学定量分析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1D15AA-D52C-8DC6-7F48-A2BB68B72AE6}"/>
              </a:ext>
            </a:extLst>
          </p:cNvPr>
          <p:cNvSpPr/>
          <p:nvPr/>
        </p:nvSpPr>
        <p:spPr>
          <a:xfrm>
            <a:off x="743082" y="3256156"/>
            <a:ext cx="5546853" cy="2617008"/>
          </a:xfrm>
          <a:prstGeom prst="roundRect">
            <a:avLst>
              <a:gd name="adj" fmla="val 3116"/>
            </a:avLst>
          </a:prstGeom>
          <a:solidFill>
            <a:schemeClr val="accent6">
              <a:lumMod val="20000"/>
              <a:lumOff val="80000"/>
              <a:alpha val="30000"/>
            </a:schemeClr>
          </a:solidFill>
          <a:ln w="1587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D0FAC8-49EC-3413-468C-6623B4B1C3F7}"/>
              </a:ext>
            </a:extLst>
          </p:cNvPr>
          <p:cNvSpPr/>
          <p:nvPr/>
        </p:nvSpPr>
        <p:spPr>
          <a:xfrm>
            <a:off x="262075" y="5998617"/>
            <a:ext cx="390293" cy="2617009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模型检验潜在驱动机制的效应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2E6FA53-D084-D54F-7650-71980022CACD}"/>
              </a:ext>
            </a:extLst>
          </p:cNvPr>
          <p:cNvSpPr/>
          <p:nvPr/>
        </p:nvSpPr>
        <p:spPr>
          <a:xfrm>
            <a:off x="737691" y="5998617"/>
            <a:ext cx="5546853" cy="2617009"/>
          </a:xfrm>
          <a:prstGeom prst="roundRect">
            <a:avLst>
              <a:gd name="adj" fmla="val 311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158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16" name="Picture 15" descr="A person with blood in a bag&#10;&#10;AI-generated content may be incorrect.">
            <a:extLst>
              <a:ext uri="{FF2B5EF4-FFF2-40B4-BE49-F238E27FC236}">
                <a16:creationId xmlns:a16="http://schemas.microsoft.com/office/drawing/2014/main" id="{694F7C83-ADE3-517F-1E79-1ABF27D21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51" y="904635"/>
            <a:ext cx="914400" cy="1257300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 descr="A blue human body with arms spread out&#10;&#10;AI-generated content may be incorrect.">
            <a:extLst>
              <a:ext uri="{FF2B5EF4-FFF2-40B4-BE49-F238E27FC236}">
                <a16:creationId xmlns:a16="http://schemas.microsoft.com/office/drawing/2014/main" id="{6794DF2A-256A-7C7D-227C-6593B71DB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691" y="904635"/>
            <a:ext cx="711200" cy="1257300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 descr="A computer screen with a sign&#10;&#10;AI-generated content may be incorrect.">
            <a:extLst>
              <a:ext uri="{FF2B5EF4-FFF2-40B4-BE49-F238E27FC236}">
                <a16:creationId xmlns:a16="http://schemas.microsoft.com/office/drawing/2014/main" id="{10025921-3579-82E9-7C68-0C1AC9ABC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069" y="1094930"/>
            <a:ext cx="730029" cy="500131"/>
          </a:xfrm>
          <a:prstGeom prst="rect">
            <a:avLst/>
          </a:prstGeom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761" name="Chevron 18760">
            <a:extLst>
              <a:ext uri="{FF2B5EF4-FFF2-40B4-BE49-F238E27FC236}">
                <a16:creationId xmlns:a16="http://schemas.microsoft.com/office/drawing/2014/main" id="{8BA7779F-2CC9-EDDF-4EF0-F5C2A255C126}"/>
              </a:ext>
            </a:extLst>
          </p:cNvPr>
          <p:cNvSpPr/>
          <p:nvPr/>
        </p:nvSpPr>
        <p:spPr>
          <a:xfrm rot="5400000">
            <a:off x="5415787" y="1779582"/>
            <a:ext cx="2580774" cy="39029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0000" rtlCol="0" anchor="ctr"/>
          <a:lstStyle/>
          <a:p>
            <a:pPr algn="ctr">
              <a:spcAft>
                <a:spcPts val="300"/>
              </a:spcAft>
            </a:pPr>
            <a:r>
              <a:rPr lang="en-CN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首个低危型</a:t>
            </a:r>
            <a:endParaRPr lang="en-US" sz="12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>
              <a:spcAft>
                <a:spcPts val="300"/>
              </a:spcAft>
            </a:pPr>
            <a:r>
              <a:rPr lang="en-CN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HPV</a:t>
            </a:r>
            <a:endParaRPr lang="en-US" altLang="zh-CN" sz="12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CN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数据库发布</a:t>
            </a:r>
          </a:p>
        </p:txBody>
      </p:sp>
      <p:sp>
        <p:nvSpPr>
          <p:cNvPr id="18744" name="Oval 18743">
            <a:extLst>
              <a:ext uri="{FF2B5EF4-FFF2-40B4-BE49-F238E27FC236}">
                <a16:creationId xmlns:a16="http://schemas.microsoft.com/office/drawing/2014/main" id="{6A2EA4BA-CD8B-506F-E1C8-8F316ECC3FDD}"/>
              </a:ext>
            </a:extLst>
          </p:cNvPr>
          <p:cNvSpPr/>
          <p:nvPr/>
        </p:nvSpPr>
        <p:spPr>
          <a:xfrm>
            <a:off x="1706949" y="1161722"/>
            <a:ext cx="914399" cy="856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>
                <a:lumMod val="75000"/>
                <a:lumOff val="25000"/>
              </a:schemeClr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742" name="Notched Right Arrow 18741">
            <a:extLst>
              <a:ext uri="{FF2B5EF4-FFF2-40B4-BE49-F238E27FC236}">
                <a16:creationId xmlns:a16="http://schemas.microsoft.com/office/drawing/2014/main" id="{BF297EFF-ABC6-6900-E403-0B9EBA3B593B}"/>
              </a:ext>
            </a:extLst>
          </p:cNvPr>
          <p:cNvSpPr/>
          <p:nvPr/>
        </p:nvSpPr>
        <p:spPr>
          <a:xfrm>
            <a:off x="1609168" y="738514"/>
            <a:ext cx="3755180" cy="343389"/>
          </a:xfrm>
          <a:prstGeom prst="notchedRightArrow">
            <a:avLst>
              <a:gd name="adj1" fmla="val 66024"/>
              <a:gd name="adj2" fmla="val 42997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31006" dist="25400" dir="2700000" algn="tl" rotWithShape="0">
              <a:prstClr val="black">
                <a:alpha val="3028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时间纵向队列</a:t>
            </a:r>
            <a:r>
              <a:rPr lang="zh-CN" altLang="en-US" sz="9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：</a:t>
            </a:r>
            <a:r>
              <a:rPr lang="en-US" altLang="zh-CN" sz="9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27</a:t>
            </a:r>
            <a:r>
              <a:rPr lang="zh-CN" altLang="en-US" sz="9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 </a:t>
            </a:r>
            <a:r>
              <a:rPr lang="en-CN" sz="9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位患者中的</a:t>
            </a:r>
            <a:r>
              <a:rPr lang="zh-CN" altLang="en-US" sz="9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 </a:t>
            </a:r>
            <a:r>
              <a:rPr lang="en-US" altLang="zh-CN" sz="9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7</a:t>
            </a:r>
            <a:r>
              <a:rPr lang="zh-CN" altLang="en-US" sz="9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 </a:t>
            </a:r>
            <a:r>
              <a:rPr lang="en-CN" sz="9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 panose="020B0604020202020204" pitchFamily="34" charset="0"/>
              </a:rPr>
              <a:t>位接受造血干细胞移植并重复采样</a:t>
            </a:r>
          </a:p>
        </p:txBody>
      </p:sp>
      <p:pic>
        <p:nvPicPr>
          <p:cNvPr id="18738" name="Picture 18737" descr="A diagram of skin layers&#10;&#10;AI-generated content may be incorrect.">
            <a:extLst>
              <a:ext uri="{FF2B5EF4-FFF2-40B4-BE49-F238E27FC236}">
                <a16:creationId xmlns:a16="http://schemas.microsoft.com/office/drawing/2014/main" id="{D633D1B1-1FA7-D58F-1A5A-77595B309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9882" y="1291955"/>
            <a:ext cx="685556" cy="48228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A circular object with different colored objects&#10;&#10;AI-generated content may be incorrect.">
            <a:extLst>
              <a:ext uri="{FF2B5EF4-FFF2-40B4-BE49-F238E27FC236}">
                <a16:creationId xmlns:a16="http://schemas.microsoft.com/office/drawing/2014/main" id="{068EBD29-C1C3-5474-2D1C-436A0276C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5615" y="1496527"/>
            <a:ext cx="365539" cy="360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745" name="Oval 18744">
            <a:extLst>
              <a:ext uri="{FF2B5EF4-FFF2-40B4-BE49-F238E27FC236}">
                <a16:creationId xmlns:a16="http://schemas.microsoft.com/office/drawing/2014/main" id="{A1992038-7412-BE16-37E8-51F4A67D5558}"/>
              </a:ext>
            </a:extLst>
          </p:cNvPr>
          <p:cNvSpPr/>
          <p:nvPr/>
        </p:nvSpPr>
        <p:spPr>
          <a:xfrm>
            <a:off x="4347863" y="1161722"/>
            <a:ext cx="914399" cy="856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>
                <a:lumMod val="75000"/>
                <a:lumOff val="25000"/>
              </a:schemeClr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8739" name="Picture 18738" descr="A diagram of skin layers&#10;&#10;AI-generated content may be incorrect.">
            <a:extLst>
              <a:ext uri="{FF2B5EF4-FFF2-40B4-BE49-F238E27FC236}">
                <a16:creationId xmlns:a16="http://schemas.microsoft.com/office/drawing/2014/main" id="{6D7C2680-6392-41F2-3941-7F7258CA7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1936" y="1291955"/>
            <a:ext cx="685556" cy="48228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740" name="Picture 18739" descr="A plate with different colored objects&#10;&#10;AI-generated content may be incorrect.">
            <a:extLst>
              <a:ext uri="{FF2B5EF4-FFF2-40B4-BE49-F238E27FC236}">
                <a16:creationId xmlns:a16="http://schemas.microsoft.com/office/drawing/2014/main" id="{297D6CD6-6698-84CA-49B9-3A169AAEB6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3537" y="1496527"/>
            <a:ext cx="360000" cy="360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749" name="Graphic 18748" descr="Back with solid fill">
            <a:extLst>
              <a:ext uri="{FF2B5EF4-FFF2-40B4-BE49-F238E27FC236}">
                <a16:creationId xmlns:a16="http://schemas.microsoft.com/office/drawing/2014/main" id="{8A65A0C0-0175-8F6A-2629-4F1A4D45C3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9706" y="1147261"/>
            <a:ext cx="432000" cy="432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751" name="Graphic 18750" descr="Back with solid fill">
            <a:extLst>
              <a:ext uri="{FF2B5EF4-FFF2-40B4-BE49-F238E27FC236}">
                <a16:creationId xmlns:a16="http://schemas.microsoft.com/office/drawing/2014/main" id="{19C6AFA2-0CF1-86C6-29FC-2ECF90D67E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28459" y="1145806"/>
            <a:ext cx="432000" cy="432000"/>
          </a:xfrm>
          <a:prstGeom prst="rect">
            <a:avLst/>
          </a:prstGeom>
          <a:effectLst>
            <a:outerShdw blurRad="25400" dist="127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8762" name="Chevron 18761">
            <a:extLst>
              <a:ext uri="{FF2B5EF4-FFF2-40B4-BE49-F238E27FC236}">
                <a16:creationId xmlns:a16="http://schemas.microsoft.com/office/drawing/2014/main" id="{3111776C-21B0-66C1-C7BC-C06385E42A9A}"/>
              </a:ext>
            </a:extLst>
          </p:cNvPr>
          <p:cNvSpPr/>
          <p:nvPr/>
        </p:nvSpPr>
        <p:spPr>
          <a:xfrm rot="5400000">
            <a:off x="5270054" y="4368620"/>
            <a:ext cx="2869703" cy="390292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0000" rtlCol="0" anchor="ctr"/>
          <a:lstStyle/>
          <a:p>
            <a:pPr algn="ctr"/>
            <a:r>
              <a:rPr lang="en-CN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多样性起源</a:t>
            </a:r>
          </a:p>
          <a:p>
            <a:pPr algn="ctr"/>
            <a:r>
              <a:rPr lang="en-CN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</a:p>
          <a:p>
            <a:pPr algn="ctr"/>
            <a:r>
              <a:rPr lang="en-CN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免疫重建的影响</a:t>
            </a:r>
          </a:p>
        </p:txBody>
      </p:sp>
      <p:sp>
        <p:nvSpPr>
          <p:cNvPr id="18763" name="Chevron 18762">
            <a:extLst>
              <a:ext uri="{FF2B5EF4-FFF2-40B4-BE49-F238E27FC236}">
                <a16:creationId xmlns:a16="http://schemas.microsoft.com/office/drawing/2014/main" id="{9B730A53-BE02-3C37-251E-AF3924AE2E3E}"/>
              </a:ext>
            </a:extLst>
          </p:cNvPr>
          <p:cNvSpPr/>
          <p:nvPr/>
        </p:nvSpPr>
        <p:spPr>
          <a:xfrm rot="5400000">
            <a:off x="5264662" y="7108694"/>
            <a:ext cx="2869706" cy="390292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0000" rtlCol="0" anchor="ctr"/>
          <a:lstStyle/>
          <a:p>
            <a:pPr algn="ctr"/>
            <a:r>
              <a:rPr lang="en-CN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评估先天免疫编辑</a:t>
            </a: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  <a:endParaRPr lang="en-CN" altLang="zh-CN" sz="12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CN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基因重组</a:t>
            </a:r>
          </a:p>
        </p:txBody>
      </p:sp>
      <p:pic>
        <p:nvPicPr>
          <p:cNvPr id="18773" name="Graphic 18772" descr="Arrow: Straight with solid fill">
            <a:extLst>
              <a:ext uri="{FF2B5EF4-FFF2-40B4-BE49-F238E27FC236}">
                <a16:creationId xmlns:a16="http://schemas.microsoft.com/office/drawing/2014/main" id="{46B57B04-73C4-50E7-4A51-574D88830F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6202423" y="7127121"/>
            <a:ext cx="360000" cy="360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774" name="Graphic 18773" descr="Arrow: Straight with solid fill">
            <a:extLst>
              <a:ext uri="{FF2B5EF4-FFF2-40B4-BE49-F238E27FC236}">
                <a16:creationId xmlns:a16="http://schemas.microsoft.com/office/drawing/2014/main" id="{33449F06-2BD3-7020-03B3-C90D9C7CD0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>
            <a:off x="6202423" y="4377132"/>
            <a:ext cx="360000" cy="360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777" name="Down Arrow Callout 18776">
            <a:extLst>
              <a:ext uri="{FF2B5EF4-FFF2-40B4-BE49-F238E27FC236}">
                <a16:creationId xmlns:a16="http://schemas.microsoft.com/office/drawing/2014/main" id="{173D88FD-A5FF-A97F-68ED-CFBEB18ADDB7}"/>
              </a:ext>
            </a:extLst>
          </p:cNvPr>
          <p:cNvSpPr/>
          <p:nvPr/>
        </p:nvSpPr>
        <p:spPr>
          <a:xfrm>
            <a:off x="4805062" y="2773494"/>
            <a:ext cx="1332623" cy="620217"/>
          </a:xfrm>
          <a:prstGeom prst="downArrowCallout">
            <a:avLst>
              <a:gd name="adj1" fmla="val 11309"/>
              <a:gd name="adj2" fmla="val 14196"/>
              <a:gd name="adj3" fmla="val 9967"/>
              <a:gd name="adj4" fmla="val 83586"/>
            </a:avLst>
          </a:prstGeom>
          <a:gradFill>
            <a:gsLst>
              <a:gs pos="0">
                <a:schemeClr val="tx2">
                  <a:alpha val="70000"/>
                  <a:lumMod val="10000"/>
                  <a:lumOff val="90000"/>
                </a:schemeClr>
              </a:gs>
              <a:gs pos="73000">
                <a:schemeClr val="accent6">
                  <a:lumMod val="20000"/>
                  <a:lumOff val="80000"/>
                </a:schemeClr>
              </a:gs>
              <a:gs pos="87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  <a:ln w="12700">
            <a:gradFill>
              <a:gsLst>
                <a:gs pos="0">
                  <a:schemeClr val="tx2">
                    <a:lumMod val="75000"/>
                    <a:lumOff val="25000"/>
                  </a:schemeClr>
                </a:gs>
                <a:gs pos="77000">
                  <a:schemeClr val="accent6">
                    <a:lumMod val="75000"/>
                  </a:schemeClr>
                </a:gs>
                <a:gs pos="88000">
                  <a:schemeClr val="accent6">
                    <a:lumMod val="75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CN" sz="8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25400" dist="12700" dir="2700000" algn="tl" rotWithShape="0">
                    <a:prstClr val="black">
                      <a:alpha val="20058"/>
                    </a:prstClr>
                  </a:outerShdw>
                </a:effectLst>
              </a:rPr>
              <a:t>重建每个患者体内的</a:t>
            </a:r>
            <a:r>
              <a:rPr lang="zh-CN" altLang="en-US" sz="8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25400" dist="12700" dir="2700000" algn="tl" rotWithShape="0">
                    <a:prstClr val="black">
                      <a:alpha val="20058"/>
                    </a:prstClr>
                  </a:outerShdw>
                </a:effectLst>
              </a:rPr>
              <a:t> </a:t>
            </a:r>
            <a:r>
              <a:rPr lang="en-CN" sz="8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25400" dist="12700" dir="2700000" algn="tl" rotWithShape="0">
                    <a:prstClr val="black">
                      <a:alpha val="20058"/>
                    </a:prstClr>
                  </a:outerShdw>
                </a:effectLst>
              </a:rPr>
              <a:t>HPV</a:t>
            </a:r>
            <a:r>
              <a:rPr lang="zh-CN" altLang="en-US" sz="8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25400" dist="12700" dir="2700000" algn="tl" rotWithShape="0">
                    <a:prstClr val="black">
                      <a:alpha val="20058"/>
                    </a:prstClr>
                  </a:outerShdw>
                </a:effectLst>
              </a:rPr>
              <a:t> </a:t>
            </a:r>
            <a:r>
              <a:rPr lang="en-CN" sz="8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25400" dist="12700" dir="2700000" algn="tl" rotWithShape="0">
                    <a:prstClr val="black">
                      <a:alpha val="20058"/>
                    </a:prstClr>
                  </a:outerShdw>
                </a:effectLst>
              </a:rPr>
              <a:t>单倍体基因组序列并统计其相对丰度</a:t>
            </a:r>
            <a:r>
              <a:rPr lang="zh-CN" altLang="en-US" sz="8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25400" dist="12700" dir="2700000" algn="tl" rotWithShape="0">
                    <a:prstClr val="black">
                      <a:alpha val="20058"/>
                    </a:prstClr>
                  </a:outerShdw>
                </a:effectLst>
              </a:rPr>
              <a:t> </a:t>
            </a:r>
            <a:r>
              <a:rPr lang="en-US" altLang="zh-CN" sz="8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25400" dist="12700" dir="2700000" algn="tl" rotWithShape="0">
                    <a:prstClr val="black">
                      <a:alpha val="20058"/>
                    </a:prstClr>
                  </a:outerShdw>
                </a:effectLst>
              </a:rPr>
              <a:t>&amp;</a:t>
            </a:r>
            <a:r>
              <a:rPr lang="zh-CN" altLang="en-US" sz="8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25400" dist="12700" dir="2700000" algn="tl" rotWithShape="0">
                    <a:prstClr val="black">
                      <a:alpha val="20058"/>
                    </a:prstClr>
                  </a:outerShdw>
                </a:effectLst>
              </a:rPr>
              <a:t> </a:t>
            </a:r>
            <a:r>
              <a:rPr lang="en-CN" sz="8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25400" dist="12700" dir="2700000" algn="tl" rotWithShape="0">
                    <a:prstClr val="black">
                      <a:alpha val="20058"/>
                    </a:prstClr>
                  </a:outerShdw>
                </a:effectLst>
              </a:rPr>
              <a:t>突变图谱</a:t>
            </a:r>
          </a:p>
        </p:txBody>
      </p:sp>
      <p:sp>
        <p:nvSpPr>
          <p:cNvPr id="18776" name="Terminator 18775">
            <a:extLst>
              <a:ext uri="{FF2B5EF4-FFF2-40B4-BE49-F238E27FC236}">
                <a16:creationId xmlns:a16="http://schemas.microsoft.com/office/drawing/2014/main" id="{27162031-F910-30E8-E9B2-CE1F22519830}"/>
              </a:ext>
            </a:extLst>
          </p:cNvPr>
          <p:cNvSpPr/>
          <p:nvPr/>
        </p:nvSpPr>
        <p:spPr>
          <a:xfrm>
            <a:off x="2989590" y="2007269"/>
            <a:ext cx="1113392" cy="234669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质控</a:t>
            </a:r>
            <a:r>
              <a:rPr lang="zh-CN" altLang="en-US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altLang="zh-CN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  <a:r>
              <a:rPr lang="zh-CN" altLang="en-US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CN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去宿主读段</a:t>
            </a:r>
          </a:p>
        </p:txBody>
      </p:sp>
      <p:sp>
        <p:nvSpPr>
          <p:cNvPr id="18790" name="Circular Arrow 18789">
            <a:extLst>
              <a:ext uri="{FF2B5EF4-FFF2-40B4-BE49-F238E27FC236}">
                <a16:creationId xmlns:a16="http://schemas.microsoft.com/office/drawing/2014/main" id="{1BE66C0E-1450-907E-0FB4-233FF30BCDE1}"/>
              </a:ext>
            </a:extLst>
          </p:cNvPr>
          <p:cNvSpPr/>
          <p:nvPr/>
        </p:nvSpPr>
        <p:spPr>
          <a:xfrm rot="16659929" flipH="1">
            <a:off x="2589811" y="2021939"/>
            <a:ext cx="807293" cy="936000"/>
          </a:xfrm>
          <a:prstGeom prst="circularArrow">
            <a:avLst>
              <a:gd name="adj1" fmla="val 2731"/>
              <a:gd name="adj2" fmla="val 360021"/>
              <a:gd name="adj3" fmla="val 21452820"/>
              <a:gd name="adj4" fmla="val 11640768"/>
              <a:gd name="adj5" fmla="val 4428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2700" dist="12700" dir="2700000" sx="98000" sy="98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8779" name="Terminator 18778">
            <a:extLst>
              <a:ext uri="{FF2B5EF4-FFF2-40B4-BE49-F238E27FC236}">
                <a16:creationId xmlns:a16="http://schemas.microsoft.com/office/drawing/2014/main" id="{EB31E834-F9DE-E76C-2348-B9474C5259E2}"/>
              </a:ext>
            </a:extLst>
          </p:cNvPr>
          <p:cNvSpPr/>
          <p:nvPr/>
        </p:nvSpPr>
        <p:spPr>
          <a:xfrm>
            <a:off x="2153593" y="2357945"/>
            <a:ext cx="898113" cy="234669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De novo 组装</a:t>
            </a:r>
            <a:endParaRPr lang="en-CN" sz="800" dirty="0">
              <a:effectLst>
                <a:outerShdw blurRad="25400" dist="254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791" name="Terminator 18790">
            <a:extLst>
              <a:ext uri="{FF2B5EF4-FFF2-40B4-BE49-F238E27FC236}">
                <a16:creationId xmlns:a16="http://schemas.microsoft.com/office/drawing/2014/main" id="{80E0F9AF-1C4A-7589-9F5C-F1BE9FF70977}"/>
              </a:ext>
            </a:extLst>
          </p:cNvPr>
          <p:cNvSpPr/>
          <p:nvPr/>
        </p:nvSpPr>
        <p:spPr>
          <a:xfrm>
            <a:off x="2989590" y="2751595"/>
            <a:ext cx="1113392" cy="234669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构建参考基因组库</a:t>
            </a:r>
            <a:endParaRPr lang="en-CN" sz="800" dirty="0">
              <a:effectLst>
                <a:outerShdw blurRad="25400" dist="254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804" name="Circular Arrow 18803">
            <a:extLst>
              <a:ext uri="{FF2B5EF4-FFF2-40B4-BE49-F238E27FC236}">
                <a16:creationId xmlns:a16="http://schemas.microsoft.com/office/drawing/2014/main" id="{181DA5D5-F0BE-A329-33CB-A5A042E30F7B}"/>
              </a:ext>
            </a:extLst>
          </p:cNvPr>
          <p:cNvSpPr/>
          <p:nvPr/>
        </p:nvSpPr>
        <p:spPr>
          <a:xfrm rot="15682403" flipH="1">
            <a:off x="1734849" y="70561"/>
            <a:ext cx="2138711" cy="3774502"/>
          </a:xfrm>
          <a:prstGeom prst="circularArrow">
            <a:avLst>
              <a:gd name="adj1" fmla="val 1068"/>
              <a:gd name="adj2" fmla="val 138025"/>
              <a:gd name="adj3" fmla="val 21439360"/>
              <a:gd name="adj4" fmla="val 17692502"/>
              <a:gd name="adj5" fmla="val 1738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8805" name="Pentagon 18804">
            <a:extLst>
              <a:ext uri="{FF2B5EF4-FFF2-40B4-BE49-F238E27FC236}">
                <a16:creationId xmlns:a16="http://schemas.microsoft.com/office/drawing/2014/main" id="{70E5E216-2A8D-A1E1-8DC4-F5EAB0B4A245}"/>
              </a:ext>
            </a:extLst>
          </p:cNvPr>
          <p:cNvSpPr/>
          <p:nvPr/>
        </p:nvSpPr>
        <p:spPr>
          <a:xfrm rot="5400000">
            <a:off x="3430972" y="1379327"/>
            <a:ext cx="230627" cy="832162"/>
          </a:xfrm>
          <a:prstGeom prst="homePlate">
            <a:avLst>
              <a:gd name="adj" fmla="val 33769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N" sz="700" dirty="0"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各患者独立流程</a:t>
            </a:r>
          </a:p>
        </p:txBody>
      </p:sp>
      <p:sp>
        <p:nvSpPr>
          <p:cNvPr id="18806" name="Multidocument 18805">
            <a:extLst>
              <a:ext uri="{FF2B5EF4-FFF2-40B4-BE49-F238E27FC236}">
                <a16:creationId xmlns:a16="http://schemas.microsoft.com/office/drawing/2014/main" id="{3AEA9B93-DBEF-A33D-8CD6-601B38172ACD}"/>
              </a:ext>
            </a:extLst>
          </p:cNvPr>
          <p:cNvSpPr/>
          <p:nvPr/>
        </p:nvSpPr>
        <p:spPr>
          <a:xfrm>
            <a:off x="811365" y="2278853"/>
            <a:ext cx="1003732" cy="599410"/>
          </a:xfrm>
          <a:prstGeom prst="flowChartMultidocument">
            <a:avLst/>
          </a:prstGeom>
          <a:solidFill>
            <a:schemeClr val="tx2">
              <a:lumMod val="75000"/>
              <a:lumOff val="25000"/>
            </a:schemeClr>
          </a:solidFill>
          <a:ln w="15875">
            <a:solidFill>
              <a:schemeClr val="bg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8766" name="Picture 18765" descr="A close up of a logo&#10;&#10;AI-generated content may be incorrect.">
            <a:extLst>
              <a:ext uri="{FF2B5EF4-FFF2-40B4-BE49-F238E27FC236}">
                <a16:creationId xmlns:a16="http://schemas.microsoft.com/office/drawing/2014/main" id="{3AD72801-B0B3-E301-BE4B-015AEDBB307A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005" r="19426"/>
          <a:stretch>
            <a:fillRect/>
          </a:stretch>
        </p:blipFill>
        <p:spPr>
          <a:xfrm>
            <a:off x="996890" y="2430602"/>
            <a:ext cx="635614" cy="216000"/>
          </a:xfrm>
          <a:prstGeom prst="rect">
            <a:avLst/>
          </a:prstGeom>
          <a:effectLst>
            <a:outerShdw blurRad="38100" dist="254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8768" name="Picture 1876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F4049950-EF0A-2F6C-F4D4-E50884A1853D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87839" t="936" b="91006"/>
          <a:stretch>
            <a:fillRect/>
          </a:stretch>
        </p:blipFill>
        <p:spPr>
          <a:xfrm>
            <a:off x="873934" y="2590654"/>
            <a:ext cx="508378" cy="177310"/>
          </a:xfrm>
          <a:prstGeom prst="rect">
            <a:avLst/>
          </a:prstGeom>
          <a:effectLst>
            <a:outerShdw blurRad="38100" dist="254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8807" name="Terminator 18806">
            <a:extLst>
              <a:ext uri="{FF2B5EF4-FFF2-40B4-BE49-F238E27FC236}">
                <a16:creationId xmlns:a16="http://schemas.microsoft.com/office/drawing/2014/main" id="{19F3D676-450A-8A2F-10BE-A884D5533475}"/>
              </a:ext>
            </a:extLst>
          </p:cNvPr>
          <p:cNvSpPr/>
          <p:nvPr/>
        </p:nvSpPr>
        <p:spPr>
          <a:xfrm>
            <a:off x="3882192" y="2302558"/>
            <a:ext cx="1003835" cy="388416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基于参考的宿主内单倍体组装</a:t>
            </a:r>
            <a:endParaRPr lang="en-CN" sz="800" dirty="0">
              <a:effectLst>
                <a:outerShdw blurRad="25400" dist="254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808" name="Bent Arrow 18807">
            <a:extLst>
              <a:ext uri="{FF2B5EF4-FFF2-40B4-BE49-F238E27FC236}">
                <a16:creationId xmlns:a16="http://schemas.microsoft.com/office/drawing/2014/main" id="{93FC89CB-8E34-F9D6-72A6-32DDA1378493}"/>
              </a:ext>
            </a:extLst>
          </p:cNvPr>
          <p:cNvSpPr/>
          <p:nvPr/>
        </p:nvSpPr>
        <p:spPr>
          <a:xfrm>
            <a:off x="3486758" y="2430601"/>
            <a:ext cx="376956" cy="290683"/>
          </a:xfrm>
          <a:prstGeom prst="bentArrow">
            <a:avLst>
              <a:gd name="adj1" fmla="val 9701"/>
              <a:gd name="adj2" fmla="val 12251"/>
              <a:gd name="adj3" fmla="val 18200"/>
              <a:gd name="adj4" fmla="val 4205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8810" name="Terminator 18809">
            <a:extLst>
              <a:ext uri="{FF2B5EF4-FFF2-40B4-BE49-F238E27FC236}">
                <a16:creationId xmlns:a16="http://schemas.microsoft.com/office/drawing/2014/main" id="{B505E53A-3BB5-AE88-1AD3-32E2414A0213}"/>
              </a:ext>
            </a:extLst>
          </p:cNvPr>
          <p:cNvSpPr/>
          <p:nvPr/>
        </p:nvSpPr>
        <p:spPr>
          <a:xfrm>
            <a:off x="5193078" y="2302532"/>
            <a:ext cx="989282" cy="388416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CN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基因组质量评估与初步注释</a:t>
            </a:r>
          </a:p>
        </p:txBody>
      </p:sp>
      <p:pic>
        <p:nvPicPr>
          <p:cNvPr id="18812" name="Graphic 18811" descr="Chevron arrows with solid fill">
            <a:extLst>
              <a:ext uri="{FF2B5EF4-FFF2-40B4-BE49-F238E27FC236}">
                <a16:creationId xmlns:a16="http://schemas.microsoft.com/office/drawing/2014/main" id="{84BBEFDC-6C86-EF7B-7C9E-259AC2524BF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06828" y="2365689"/>
            <a:ext cx="252000" cy="252000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813" name="Graphic 18812" descr="Arrow: Straight with solid fill">
            <a:extLst>
              <a:ext uri="{FF2B5EF4-FFF2-40B4-BE49-F238E27FC236}">
                <a16:creationId xmlns:a16="http://schemas.microsoft.com/office/drawing/2014/main" id="{098A2964-A4CD-3A63-8A45-BCDC72C27B4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10800000">
            <a:off x="6202423" y="2309939"/>
            <a:ext cx="360000" cy="360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814" name="Bent Arrow 18813">
            <a:extLst>
              <a:ext uri="{FF2B5EF4-FFF2-40B4-BE49-F238E27FC236}">
                <a16:creationId xmlns:a16="http://schemas.microsoft.com/office/drawing/2014/main" id="{E0A33A49-58F0-9447-C0A4-93FF04438C0C}"/>
              </a:ext>
            </a:extLst>
          </p:cNvPr>
          <p:cNvSpPr/>
          <p:nvPr/>
        </p:nvSpPr>
        <p:spPr>
          <a:xfrm flipV="1">
            <a:off x="4390049" y="2721910"/>
            <a:ext cx="376956" cy="290683"/>
          </a:xfrm>
          <a:prstGeom prst="bentArrow">
            <a:avLst>
              <a:gd name="adj1" fmla="val 9701"/>
              <a:gd name="adj2" fmla="val 12251"/>
              <a:gd name="adj3" fmla="val 18200"/>
              <a:gd name="adj4" fmla="val 4205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8819" name="Left-Right Arrow Callout 18818">
            <a:extLst>
              <a:ext uri="{FF2B5EF4-FFF2-40B4-BE49-F238E27FC236}">
                <a16:creationId xmlns:a16="http://schemas.microsoft.com/office/drawing/2014/main" id="{07CB81AE-EE96-F5DC-028C-1B43B9C252E0}"/>
              </a:ext>
            </a:extLst>
          </p:cNvPr>
          <p:cNvSpPr/>
          <p:nvPr/>
        </p:nvSpPr>
        <p:spPr>
          <a:xfrm rot="5400000">
            <a:off x="433305" y="4160256"/>
            <a:ext cx="1666780" cy="812469"/>
          </a:xfrm>
          <a:prstGeom prst="leftRightArrowCallout">
            <a:avLst>
              <a:gd name="adj1" fmla="val 5952"/>
              <a:gd name="adj2" fmla="val 6746"/>
              <a:gd name="adj3" fmla="val 10397"/>
              <a:gd name="adj4" fmla="val 34651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>
              <a:lnSpc>
                <a:spcPct val="120000"/>
              </a:lnSpc>
            </a:pPr>
            <a:r>
              <a:rPr lang="en-CN" sz="9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宿主内 HPV 多样性的来源</a:t>
            </a:r>
            <a:r>
              <a:rPr lang="zh-CN" altLang="en-US" sz="9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 ？</a:t>
            </a:r>
            <a:endParaRPr lang="en-CN" sz="900" dirty="0">
              <a:effectLst>
                <a:outerShdw blurRad="12700" dist="254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820" name="Rounded Rectangle 18819">
            <a:extLst>
              <a:ext uri="{FF2B5EF4-FFF2-40B4-BE49-F238E27FC236}">
                <a16:creationId xmlns:a16="http://schemas.microsoft.com/office/drawing/2014/main" id="{A9E9AB69-7984-568B-771E-EB0471CC565D}"/>
              </a:ext>
            </a:extLst>
          </p:cNvPr>
          <p:cNvSpPr/>
          <p:nvPr/>
        </p:nvSpPr>
        <p:spPr>
          <a:xfrm>
            <a:off x="860461" y="3407530"/>
            <a:ext cx="812469" cy="25866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宿主内进化</a:t>
            </a:r>
          </a:p>
        </p:txBody>
      </p:sp>
      <p:sp>
        <p:nvSpPr>
          <p:cNvPr id="18821" name="Rounded Rectangle 18820">
            <a:extLst>
              <a:ext uri="{FF2B5EF4-FFF2-40B4-BE49-F238E27FC236}">
                <a16:creationId xmlns:a16="http://schemas.microsoft.com/office/drawing/2014/main" id="{52B163A6-E30A-9B7E-3501-3A61FC8BBEA2}"/>
              </a:ext>
            </a:extLst>
          </p:cNvPr>
          <p:cNvSpPr/>
          <p:nvPr/>
        </p:nvSpPr>
        <p:spPr>
          <a:xfrm>
            <a:off x="873934" y="5466784"/>
            <a:ext cx="812469" cy="25866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机会性定植</a:t>
            </a:r>
          </a:p>
        </p:txBody>
      </p:sp>
      <p:sp>
        <p:nvSpPr>
          <p:cNvPr id="18822" name="Pentagon 18821">
            <a:extLst>
              <a:ext uri="{FF2B5EF4-FFF2-40B4-BE49-F238E27FC236}">
                <a16:creationId xmlns:a16="http://schemas.microsoft.com/office/drawing/2014/main" id="{E047CDB2-F552-CECC-7393-B4F9A437D5FB}"/>
              </a:ext>
            </a:extLst>
          </p:cNvPr>
          <p:cNvSpPr/>
          <p:nvPr/>
        </p:nvSpPr>
        <p:spPr>
          <a:xfrm rot="16200000">
            <a:off x="1038820" y="3852486"/>
            <a:ext cx="455753" cy="193062"/>
          </a:xfrm>
          <a:prstGeom prst="homePlat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N" sz="800" dirty="0"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验证</a:t>
            </a:r>
          </a:p>
        </p:txBody>
      </p:sp>
      <p:sp>
        <p:nvSpPr>
          <p:cNvPr id="18823" name="Pentagon 18822">
            <a:extLst>
              <a:ext uri="{FF2B5EF4-FFF2-40B4-BE49-F238E27FC236}">
                <a16:creationId xmlns:a16="http://schemas.microsoft.com/office/drawing/2014/main" id="{F65BB0C0-44EB-B607-9756-FB7B193E3741}"/>
              </a:ext>
            </a:extLst>
          </p:cNvPr>
          <p:cNvSpPr/>
          <p:nvPr/>
        </p:nvSpPr>
        <p:spPr>
          <a:xfrm rot="5400000" flipV="1">
            <a:off x="1038819" y="5087432"/>
            <a:ext cx="455753" cy="193062"/>
          </a:xfrm>
          <a:prstGeom prst="homePlat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N" sz="800" dirty="0"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排除</a:t>
            </a:r>
          </a:p>
        </p:txBody>
      </p:sp>
      <p:sp>
        <p:nvSpPr>
          <p:cNvPr id="18824" name="Left Arrow 18823">
            <a:extLst>
              <a:ext uri="{FF2B5EF4-FFF2-40B4-BE49-F238E27FC236}">
                <a16:creationId xmlns:a16="http://schemas.microsoft.com/office/drawing/2014/main" id="{78D10E23-2527-EE4C-F6CC-9274CACA4C46}"/>
              </a:ext>
            </a:extLst>
          </p:cNvPr>
          <p:cNvSpPr/>
          <p:nvPr/>
        </p:nvSpPr>
        <p:spPr>
          <a:xfrm>
            <a:off x="1706948" y="4538245"/>
            <a:ext cx="844205" cy="112266"/>
          </a:xfrm>
          <a:prstGeom prst="leftArrow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825" name="Rounded Rectangle 18824">
            <a:extLst>
              <a:ext uri="{FF2B5EF4-FFF2-40B4-BE49-F238E27FC236}">
                <a16:creationId xmlns:a16="http://schemas.microsoft.com/office/drawing/2014/main" id="{48AE1378-E53C-FDCB-760E-2D0AF2820ADC}"/>
              </a:ext>
            </a:extLst>
          </p:cNvPr>
          <p:cNvSpPr/>
          <p:nvPr/>
        </p:nvSpPr>
        <p:spPr>
          <a:xfrm>
            <a:off x="262075" y="8739465"/>
            <a:ext cx="390293" cy="100302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评估应用</a:t>
            </a:r>
          </a:p>
        </p:txBody>
      </p:sp>
      <p:sp>
        <p:nvSpPr>
          <p:cNvPr id="18826" name="Rounded Rectangle 18825">
            <a:extLst>
              <a:ext uri="{FF2B5EF4-FFF2-40B4-BE49-F238E27FC236}">
                <a16:creationId xmlns:a16="http://schemas.microsoft.com/office/drawing/2014/main" id="{DD08A3F9-BAB2-0219-E842-F5AF27BEC59E}"/>
              </a:ext>
            </a:extLst>
          </p:cNvPr>
          <p:cNvSpPr/>
          <p:nvPr/>
        </p:nvSpPr>
        <p:spPr>
          <a:xfrm>
            <a:off x="743081" y="8739465"/>
            <a:ext cx="5546853" cy="1010857"/>
          </a:xfrm>
          <a:prstGeom prst="roundRect">
            <a:avLst>
              <a:gd name="adj" fmla="val 3116"/>
            </a:avLst>
          </a:prstGeom>
          <a:solidFill>
            <a:schemeClr val="accent5">
              <a:lumMod val="20000"/>
              <a:lumOff val="80000"/>
              <a:alpha val="30000"/>
            </a:schemeClr>
          </a:solidFill>
          <a:ln w="15875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8827" name="Chevron 18826">
            <a:extLst>
              <a:ext uri="{FF2B5EF4-FFF2-40B4-BE49-F238E27FC236}">
                <a16:creationId xmlns:a16="http://schemas.microsoft.com/office/drawing/2014/main" id="{67A79645-5C9E-3130-AAE8-61C33233C238}"/>
              </a:ext>
            </a:extLst>
          </p:cNvPr>
          <p:cNvSpPr/>
          <p:nvPr/>
        </p:nvSpPr>
        <p:spPr>
          <a:xfrm rot="5400000">
            <a:off x="6138020" y="8987369"/>
            <a:ext cx="1133773" cy="390292"/>
          </a:xfrm>
          <a:prstGeom prst="chevron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0000" rtlCol="0" anchor="ctr"/>
          <a:lstStyle/>
          <a:p>
            <a:pPr algn="ctr"/>
            <a:r>
              <a:rPr lang="en-CN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辅助决策</a:t>
            </a:r>
          </a:p>
        </p:txBody>
      </p:sp>
      <p:pic>
        <p:nvPicPr>
          <p:cNvPr id="18828" name="Graphic 18827" descr="Arrow: Straight with solid fill">
            <a:extLst>
              <a:ext uri="{FF2B5EF4-FFF2-40B4-BE49-F238E27FC236}">
                <a16:creationId xmlns:a16="http://schemas.microsoft.com/office/drawing/2014/main" id="{E0381D63-D9E8-DB7D-4FFC-1156C7FBC1A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0800000">
            <a:off x="6182360" y="9060976"/>
            <a:ext cx="360000" cy="360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837" name="Graphic 18836" descr="Shuffle with solid fill">
            <a:extLst>
              <a:ext uri="{FF2B5EF4-FFF2-40B4-BE49-F238E27FC236}">
                <a16:creationId xmlns:a16="http://schemas.microsoft.com/office/drawing/2014/main" id="{F4C1F8D2-848B-31D2-5983-AEB3A4EDAA8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056632" y="9006976"/>
            <a:ext cx="468000" cy="468000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840" name="Graphic 18839" descr="Shuffle with solid fill">
            <a:extLst>
              <a:ext uri="{FF2B5EF4-FFF2-40B4-BE49-F238E27FC236}">
                <a16:creationId xmlns:a16="http://schemas.microsoft.com/office/drawing/2014/main" id="{2E03EA17-C9E1-124B-E555-9C40B14BBF2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913656" y="9006976"/>
            <a:ext cx="468000" cy="468000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841" name="Rounded Rectangle 18840">
            <a:extLst>
              <a:ext uri="{FF2B5EF4-FFF2-40B4-BE49-F238E27FC236}">
                <a16:creationId xmlns:a16="http://schemas.microsoft.com/office/drawing/2014/main" id="{BDEF9968-1B44-2323-E6AD-CCF1D7B883F2}"/>
              </a:ext>
            </a:extLst>
          </p:cNvPr>
          <p:cNvSpPr/>
          <p:nvPr/>
        </p:nvSpPr>
        <p:spPr>
          <a:xfrm>
            <a:off x="4794714" y="8925443"/>
            <a:ext cx="1312023" cy="6310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CN" sz="900" dirty="0"/>
              <a:t>预测突变和重组的潜在致癌风险并为临床检测提供理论依据</a:t>
            </a:r>
          </a:p>
        </p:txBody>
      </p:sp>
      <p:sp>
        <p:nvSpPr>
          <p:cNvPr id="18829" name="Rounded Rectangle 18828">
            <a:extLst>
              <a:ext uri="{FF2B5EF4-FFF2-40B4-BE49-F238E27FC236}">
                <a16:creationId xmlns:a16="http://schemas.microsoft.com/office/drawing/2014/main" id="{377AE200-3502-3B06-A9D3-2F6CDAFE0116}"/>
              </a:ext>
            </a:extLst>
          </p:cNvPr>
          <p:cNvSpPr/>
          <p:nvPr/>
        </p:nvSpPr>
        <p:spPr>
          <a:xfrm>
            <a:off x="860460" y="9012376"/>
            <a:ext cx="1259680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CN" sz="900" dirty="0"/>
              <a:t>受</a:t>
            </a:r>
            <a:r>
              <a:rPr lang="zh-CN" altLang="en-US" sz="900" dirty="0"/>
              <a:t> </a:t>
            </a:r>
            <a:r>
              <a:rPr lang="en-US" altLang="zh-CN" sz="900" dirty="0"/>
              <a:t>APOBEC3 </a:t>
            </a:r>
            <a:r>
              <a:rPr lang="en-CN" sz="900" dirty="0"/>
              <a:t>驱动的突变和潜在重组片段</a:t>
            </a:r>
          </a:p>
        </p:txBody>
      </p:sp>
      <p:sp>
        <p:nvSpPr>
          <p:cNvPr id="18838" name="Terminator 18837">
            <a:extLst>
              <a:ext uri="{FF2B5EF4-FFF2-40B4-BE49-F238E27FC236}">
                <a16:creationId xmlns:a16="http://schemas.microsoft.com/office/drawing/2014/main" id="{1024ED32-168D-F203-A93D-63108E4BA337}"/>
              </a:ext>
            </a:extLst>
          </p:cNvPr>
          <p:cNvSpPr/>
          <p:nvPr/>
        </p:nvSpPr>
        <p:spPr>
          <a:xfrm>
            <a:off x="2531356" y="9036703"/>
            <a:ext cx="439273" cy="165931"/>
          </a:xfrm>
          <a:prstGeom prst="flowChartTerminator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结构</a:t>
            </a:r>
            <a:endParaRPr lang="en-CN" sz="800" dirty="0">
              <a:effectLst>
                <a:outerShdw blurRad="25400" dist="254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839" name="Terminator 18838">
            <a:extLst>
              <a:ext uri="{FF2B5EF4-FFF2-40B4-BE49-F238E27FC236}">
                <a16:creationId xmlns:a16="http://schemas.microsoft.com/office/drawing/2014/main" id="{FA2546DC-EAFA-1EFA-BC25-8AFE38E0533F}"/>
              </a:ext>
            </a:extLst>
          </p:cNvPr>
          <p:cNvSpPr/>
          <p:nvPr/>
        </p:nvSpPr>
        <p:spPr>
          <a:xfrm>
            <a:off x="2531356" y="9284694"/>
            <a:ext cx="439273" cy="165931"/>
          </a:xfrm>
          <a:prstGeom prst="flowChartTerminator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功能</a:t>
            </a:r>
            <a:endParaRPr lang="en-CN" sz="800" dirty="0">
              <a:effectLst>
                <a:outerShdw blurRad="25400" dist="254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8843" name="Picture 18842" descr="A black background with many colorful dots&#10;&#10;AI-generated content may be incorrect.">
            <a:extLst>
              <a:ext uri="{FF2B5EF4-FFF2-40B4-BE49-F238E27FC236}">
                <a16:creationId xmlns:a16="http://schemas.microsoft.com/office/drawing/2014/main" id="{AFD5C0C5-B733-B9A5-21DB-9387E02C21C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72369" y="8833936"/>
            <a:ext cx="820021" cy="8200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844" name="Pentagon 18843">
            <a:extLst>
              <a:ext uri="{FF2B5EF4-FFF2-40B4-BE49-F238E27FC236}">
                <a16:creationId xmlns:a16="http://schemas.microsoft.com/office/drawing/2014/main" id="{0DFCB722-43A7-C78C-5808-A237F7DC174B}"/>
              </a:ext>
            </a:extLst>
          </p:cNvPr>
          <p:cNvSpPr/>
          <p:nvPr/>
        </p:nvSpPr>
        <p:spPr>
          <a:xfrm>
            <a:off x="4381423" y="8925443"/>
            <a:ext cx="332311" cy="631064"/>
          </a:xfrm>
          <a:prstGeom prst="homePlate">
            <a:avLst>
              <a:gd name="adj" fmla="val 26637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800" dirty="0"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深度学习</a:t>
            </a:r>
          </a:p>
        </p:txBody>
      </p:sp>
      <p:sp>
        <p:nvSpPr>
          <p:cNvPr id="18849" name="Rounded Rectangle 18848">
            <a:extLst>
              <a:ext uri="{FF2B5EF4-FFF2-40B4-BE49-F238E27FC236}">
                <a16:creationId xmlns:a16="http://schemas.microsoft.com/office/drawing/2014/main" id="{9E8024BE-7A28-281A-F2A8-89D8C93C4A71}"/>
              </a:ext>
            </a:extLst>
          </p:cNvPr>
          <p:cNvSpPr/>
          <p:nvPr/>
        </p:nvSpPr>
        <p:spPr>
          <a:xfrm>
            <a:off x="2612030" y="3431963"/>
            <a:ext cx="1567094" cy="2255675"/>
          </a:xfrm>
          <a:prstGeom prst="roundRect">
            <a:avLst>
              <a:gd name="adj" fmla="val 4249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8850" name="Rounded Rectangle 18849">
            <a:extLst>
              <a:ext uri="{FF2B5EF4-FFF2-40B4-BE49-F238E27FC236}">
                <a16:creationId xmlns:a16="http://schemas.microsoft.com/office/drawing/2014/main" id="{54BF486D-DACB-A9D4-2CB6-08F4BB269F7A}"/>
              </a:ext>
            </a:extLst>
          </p:cNvPr>
          <p:cNvSpPr/>
          <p:nvPr/>
        </p:nvSpPr>
        <p:spPr>
          <a:xfrm>
            <a:off x="1765994" y="4149355"/>
            <a:ext cx="727526" cy="25866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系统发育</a:t>
            </a:r>
          </a:p>
        </p:txBody>
      </p:sp>
      <p:sp>
        <p:nvSpPr>
          <p:cNvPr id="18851" name="Rounded Rectangle 18850">
            <a:extLst>
              <a:ext uri="{FF2B5EF4-FFF2-40B4-BE49-F238E27FC236}">
                <a16:creationId xmlns:a16="http://schemas.microsoft.com/office/drawing/2014/main" id="{DDE86B1F-C87A-53E8-7C0E-141E83EA97B0}"/>
              </a:ext>
            </a:extLst>
          </p:cNvPr>
          <p:cNvSpPr/>
          <p:nvPr/>
        </p:nvSpPr>
        <p:spPr>
          <a:xfrm>
            <a:off x="1765287" y="4779785"/>
            <a:ext cx="727526" cy="25866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聚类算法</a:t>
            </a:r>
          </a:p>
        </p:txBody>
      </p:sp>
      <p:pic>
        <p:nvPicPr>
          <p:cNvPr id="18853" name="Picture 18852" descr="A diagram of dna sequence&#10;&#10;AI-generated content may be incorrect.">
            <a:extLst>
              <a:ext uri="{FF2B5EF4-FFF2-40B4-BE49-F238E27FC236}">
                <a16:creationId xmlns:a16="http://schemas.microsoft.com/office/drawing/2014/main" id="{9800424B-F6ED-CABE-0A1E-54561719756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80533" y="3476190"/>
            <a:ext cx="1429166" cy="1315402"/>
          </a:xfrm>
          <a:prstGeom prst="rect">
            <a:avLst/>
          </a:prstGeom>
        </p:spPr>
      </p:pic>
      <p:pic>
        <p:nvPicPr>
          <p:cNvPr id="18857" name="Picture 18856" descr="A circular pattern of colored lines&#10;&#10;AI-generated content may be incorrect.">
            <a:extLst>
              <a:ext uri="{FF2B5EF4-FFF2-40B4-BE49-F238E27FC236}">
                <a16:creationId xmlns:a16="http://schemas.microsoft.com/office/drawing/2014/main" id="{27F40CD7-E8A5-912D-4DE7-6FD8F287CAD5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l="6023" t="2671" r="3920" b="4425"/>
          <a:stretch>
            <a:fillRect/>
          </a:stretch>
        </p:blipFill>
        <p:spPr>
          <a:xfrm>
            <a:off x="3320434" y="4786998"/>
            <a:ext cx="789265" cy="780524"/>
          </a:xfrm>
          <a:prstGeom prst="rect">
            <a:avLst/>
          </a:prstGeom>
        </p:spPr>
      </p:pic>
      <p:sp>
        <p:nvSpPr>
          <p:cNvPr id="18858" name="TextBox 18857">
            <a:extLst>
              <a:ext uri="{FF2B5EF4-FFF2-40B4-BE49-F238E27FC236}">
                <a16:creationId xmlns:a16="http://schemas.microsoft.com/office/drawing/2014/main" id="{A0C2223B-2DBF-0E1B-1C99-930039B5EE99}"/>
              </a:ext>
            </a:extLst>
          </p:cNvPr>
          <p:cNvSpPr txBox="1"/>
          <p:nvPr/>
        </p:nvSpPr>
        <p:spPr>
          <a:xfrm>
            <a:off x="1845043" y="3913123"/>
            <a:ext cx="5421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900" b="1" dirty="0">
                <a:solidFill>
                  <a:schemeClr val="accent6">
                    <a:lumMod val="50000"/>
                  </a:schemeClr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RAxML</a:t>
            </a:r>
          </a:p>
        </p:txBody>
      </p:sp>
      <p:sp>
        <p:nvSpPr>
          <p:cNvPr id="18859" name="TextBox 18858">
            <a:extLst>
              <a:ext uri="{FF2B5EF4-FFF2-40B4-BE49-F238E27FC236}">
                <a16:creationId xmlns:a16="http://schemas.microsoft.com/office/drawing/2014/main" id="{A39EF987-E573-C859-EC12-BF468B5DF8C8}"/>
              </a:ext>
            </a:extLst>
          </p:cNvPr>
          <p:cNvSpPr txBox="1"/>
          <p:nvPr/>
        </p:nvSpPr>
        <p:spPr>
          <a:xfrm>
            <a:off x="1746702" y="5046657"/>
            <a:ext cx="8050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900" b="1" dirty="0">
                <a:solidFill>
                  <a:schemeClr val="accent6">
                    <a:lumMod val="50000"/>
                  </a:schemeClr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TreeCluster</a:t>
            </a:r>
          </a:p>
        </p:txBody>
      </p:sp>
      <p:sp>
        <p:nvSpPr>
          <p:cNvPr id="18861" name="Rectangle 18860">
            <a:extLst>
              <a:ext uri="{FF2B5EF4-FFF2-40B4-BE49-F238E27FC236}">
                <a16:creationId xmlns:a16="http://schemas.microsoft.com/office/drawing/2014/main" id="{40BC234E-BF97-D56E-E668-113BFA5296E2}"/>
              </a:ext>
            </a:extLst>
          </p:cNvPr>
          <p:cNvSpPr/>
          <p:nvPr/>
        </p:nvSpPr>
        <p:spPr>
          <a:xfrm>
            <a:off x="1951839" y="4456572"/>
            <a:ext cx="370487" cy="259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862" name="Rectangle 18861">
            <a:extLst>
              <a:ext uri="{FF2B5EF4-FFF2-40B4-BE49-F238E27FC236}">
                <a16:creationId xmlns:a16="http://schemas.microsoft.com/office/drawing/2014/main" id="{C52EFEFB-5F2C-AE98-8A63-EFED1FEB37A5}"/>
              </a:ext>
            </a:extLst>
          </p:cNvPr>
          <p:cNvSpPr/>
          <p:nvPr/>
        </p:nvSpPr>
        <p:spPr>
          <a:xfrm>
            <a:off x="1951839" y="4460674"/>
            <a:ext cx="370487" cy="259557"/>
          </a:xfrm>
          <a:prstGeom prst="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8864" name="Graphic 18863" descr="Badge Follow with solid fill">
            <a:extLst>
              <a:ext uri="{FF2B5EF4-FFF2-40B4-BE49-F238E27FC236}">
                <a16:creationId xmlns:a16="http://schemas.microsoft.com/office/drawing/2014/main" id="{0C91DD38-9CD1-24AC-A521-767CD8A0AD6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985050" y="4450378"/>
            <a:ext cx="288000" cy="288000"/>
          </a:xfrm>
          <a:prstGeom prst="rect">
            <a:avLst/>
          </a:prstGeom>
        </p:spPr>
      </p:pic>
      <p:sp>
        <p:nvSpPr>
          <p:cNvPr id="18865" name="Rounded Rectangle 18864">
            <a:extLst>
              <a:ext uri="{FF2B5EF4-FFF2-40B4-BE49-F238E27FC236}">
                <a16:creationId xmlns:a16="http://schemas.microsoft.com/office/drawing/2014/main" id="{26E16B13-51A2-F474-69CC-248F0E4FA39C}"/>
              </a:ext>
            </a:extLst>
          </p:cNvPr>
          <p:cNvSpPr/>
          <p:nvPr/>
        </p:nvSpPr>
        <p:spPr>
          <a:xfrm>
            <a:off x="4334676" y="3431963"/>
            <a:ext cx="1847683" cy="2255675"/>
          </a:xfrm>
          <a:prstGeom prst="roundRect">
            <a:avLst>
              <a:gd name="adj" fmla="val 4249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18867" name="Picture 18866" descr="A diagram of pie charts and circles&#10;&#10;AI-generated content may be incorrect.">
            <a:extLst>
              <a:ext uri="{FF2B5EF4-FFF2-40B4-BE49-F238E27FC236}">
                <a16:creationId xmlns:a16="http://schemas.microsoft.com/office/drawing/2014/main" id="{EA9EA7EB-6237-A110-464D-3093260ABB23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t="10296"/>
          <a:stretch>
            <a:fillRect/>
          </a:stretch>
        </p:blipFill>
        <p:spPr>
          <a:xfrm rot="16200000">
            <a:off x="4766332" y="3737142"/>
            <a:ext cx="867760" cy="1142894"/>
          </a:xfrm>
          <a:prstGeom prst="rect">
            <a:avLst/>
          </a:prstGeom>
        </p:spPr>
      </p:pic>
      <p:pic>
        <p:nvPicPr>
          <p:cNvPr id="18869" name="Picture 18868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6BE65A03-9FCF-C6BA-6E25-D106ABCBB30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690946" y="4792775"/>
            <a:ext cx="626794" cy="760298"/>
          </a:xfrm>
          <a:prstGeom prst="rect">
            <a:avLst/>
          </a:prstGeom>
        </p:spPr>
      </p:pic>
      <p:pic>
        <p:nvPicPr>
          <p:cNvPr id="18874" name="Graphic 18873" descr="Shuffle with solid fill">
            <a:extLst>
              <a:ext uri="{FF2B5EF4-FFF2-40B4-BE49-F238E27FC236}">
                <a16:creationId xmlns:a16="http://schemas.microsoft.com/office/drawing/2014/main" id="{28CC909B-6D12-04C3-B0E8-627850C4E118}"/>
              </a:ext>
            </a:extLst>
          </p:cNvPr>
          <p:cNvPicPr>
            <a:picLocks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5400000">
            <a:off x="5092240" y="3623358"/>
            <a:ext cx="267357" cy="312172"/>
          </a:xfrm>
          <a:prstGeom prst="rect">
            <a:avLst/>
          </a:prstGeom>
        </p:spPr>
      </p:pic>
      <p:sp>
        <p:nvSpPr>
          <p:cNvPr id="18870" name="Rounded Rectangle 18869">
            <a:extLst>
              <a:ext uri="{FF2B5EF4-FFF2-40B4-BE49-F238E27FC236}">
                <a16:creationId xmlns:a16="http://schemas.microsoft.com/office/drawing/2014/main" id="{DA1CD5B3-44F6-F0A0-FD5A-F473480875FF}"/>
              </a:ext>
            </a:extLst>
          </p:cNvPr>
          <p:cNvSpPr/>
          <p:nvPr/>
        </p:nvSpPr>
        <p:spPr>
          <a:xfrm>
            <a:off x="4412107" y="3508337"/>
            <a:ext cx="780971" cy="191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GLM 线性模型</a:t>
            </a:r>
          </a:p>
        </p:txBody>
      </p:sp>
      <p:sp>
        <p:nvSpPr>
          <p:cNvPr id="18871" name="Rounded Rectangle 18870">
            <a:extLst>
              <a:ext uri="{FF2B5EF4-FFF2-40B4-BE49-F238E27FC236}">
                <a16:creationId xmlns:a16="http://schemas.microsoft.com/office/drawing/2014/main" id="{BBC3A3D5-8D79-625B-A69E-04081DB5CB98}"/>
              </a:ext>
            </a:extLst>
          </p:cNvPr>
          <p:cNvSpPr/>
          <p:nvPr/>
        </p:nvSpPr>
        <p:spPr>
          <a:xfrm>
            <a:off x="5262261" y="3507822"/>
            <a:ext cx="844475" cy="191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结构化合并模型</a:t>
            </a:r>
          </a:p>
        </p:txBody>
      </p:sp>
      <p:pic>
        <p:nvPicPr>
          <p:cNvPr id="18879" name="Graphic 18878" descr="Fork In Road with solid fill">
            <a:extLst>
              <a:ext uri="{FF2B5EF4-FFF2-40B4-BE49-F238E27FC236}">
                <a16:creationId xmlns:a16="http://schemas.microsoft.com/office/drawing/2014/main" id="{721E8DB8-9D2B-D412-B893-C210E4F1ACA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10800000">
            <a:off x="5128375" y="4706198"/>
            <a:ext cx="221750" cy="221750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882" name="Rounded Rectangle 18881">
            <a:extLst>
              <a:ext uri="{FF2B5EF4-FFF2-40B4-BE49-F238E27FC236}">
                <a16:creationId xmlns:a16="http://schemas.microsoft.com/office/drawing/2014/main" id="{D1D79302-19C7-3611-06B0-53513F85E424}"/>
              </a:ext>
            </a:extLst>
          </p:cNvPr>
          <p:cNvSpPr/>
          <p:nvPr/>
        </p:nvSpPr>
        <p:spPr>
          <a:xfrm>
            <a:off x="4451936" y="5165466"/>
            <a:ext cx="1574629" cy="191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突变速率</a:t>
            </a:r>
            <a:r>
              <a:rPr lang="zh-CN" altLang="en-US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altLang="zh-CN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  <a:r>
              <a:rPr lang="zh-CN" altLang="en-US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CN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选择压力</a:t>
            </a:r>
            <a:r>
              <a:rPr lang="zh-CN" altLang="en-US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altLang="zh-CN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  <a:r>
              <a:rPr lang="zh-CN" altLang="en-US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CN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有效种群数</a:t>
            </a:r>
          </a:p>
        </p:txBody>
      </p:sp>
      <p:sp>
        <p:nvSpPr>
          <p:cNvPr id="18884" name="TextBox 18883">
            <a:extLst>
              <a:ext uri="{FF2B5EF4-FFF2-40B4-BE49-F238E27FC236}">
                <a16:creationId xmlns:a16="http://schemas.microsoft.com/office/drawing/2014/main" id="{0BCED80D-3A22-126F-66F9-B73EBD21285F}"/>
              </a:ext>
            </a:extLst>
          </p:cNvPr>
          <p:cNvSpPr txBox="1"/>
          <p:nvPr/>
        </p:nvSpPr>
        <p:spPr>
          <a:xfrm>
            <a:off x="4345446" y="5404711"/>
            <a:ext cx="18309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800" dirty="0">
                <a:solidFill>
                  <a:schemeClr val="accent6">
                    <a:lumMod val="50000"/>
                  </a:schemeClr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对比干细胞移植前后的模型后验分布</a:t>
            </a:r>
          </a:p>
        </p:txBody>
      </p:sp>
      <p:pic>
        <p:nvPicPr>
          <p:cNvPr id="18886" name="Graphic 18885" descr="Arrow Down with solid fill">
            <a:extLst>
              <a:ext uri="{FF2B5EF4-FFF2-40B4-BE49-F238E27FC236}">
                <a16:creationId xmlns:a16="http://schemas.microsoft.com/office/drawing/2014/main" id="{72339108-AB5F-BBC5-4F8D-02E85C493F63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665232" y="4997027"/>
            <a:ext cx="180000" cy="150799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875" name="Rounded Rectangle 18874">
            <a:extLst>
              <a:ext uri="{FF2B5EF4-FFF2-40B4-BE49-F238E27FC236}">
                <a16:creationId xmlns:a16="http://schemas.microsoft.com/office/drawing/2014/main" id="{56205D3A-1A21-7127-B2D1-05B2A96011C9}"/>
              </a:ext>
            </a:extLst>
          </p:cNvPr>
          <p:cNvSpPr/>
          <p:nvPr/>
        </p:nvSpPr>
        <p:spPr>
          <a:xfrm>
            <a:off x="4451936" y="4832907"/>
            <a:ext cx="652815" cy="191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移植前数据</a:t>
            </a:r>
          </a:p>
        </p:txBody>
      </p:sp>
      <p:pic>
        <p:nvPicPr>
          <p:cNvPr id="18887" name="Graphic 18886" descr="Arrow Down with solid fill">
            <a:extLst>
              <a:ext uri="{FF2B5EF4-FFF2-40B4-BE49-F238E27FC236}">
                <a16:creationId xmlns:a16="http://schemas.microsoft.com/office/drawing/2014/main" id="{EFCCFF13-D473-8482-79A4-72A6E7DC70F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610157" y="4997078"/>
            <a:ext cx="180000" cy="150799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876" name="Rounded Rectangle 18875">
            <a:extLst>
              <a:ext uri="{FF2B5EF4-FFF2-40B4-BE49-F238E27FC236}">
                <a16:creationId xmlns:a16="http://schemas.microsoft.com/office/drawing/2014/main" id="{041A3A63-9A83-84B6-D737-DBB690455A49}"/>
              </a:ext>
            </a:extLst>
          </p:cNvPr>
          <p:cNvSpPr/>
          <p:nvPr/>
        </p:nvSpPr>
        <p:spPr>
          <a:xfrm>
            <a:off x="5373750" y="4832907"/>
            <a:ext cx="652815" cy="191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7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移植后数据</a:t>
            </a:r>
          </a:p>
        </p:txBody>
      </p:sp>
      <p:sp>
        <p:nvSpPr>
          <p:cNvPr id="18927" name="Left Arrow 18926">
            <a:extLst>
              <a:ext uri="{FF2B5EF4-FFF2-40B4-BE49-F238E27FC236}">
                <a16:creationId xmlns:a16="http://schemas.microsoft.com/office/drawing/2014/main" id="{05EBB995-0478-CDB0-C7F4-A19AEBA0204A}"/>
              </a:ext>
            </a:extLst>
          </p:cNvPr>
          <p:cNvSpPr/>
          <p:nvPr/>
        </p:nvSpPr>
        <p:spPr>
          <a:xfrm rot="10800000">
            <a:off x="4675995" y="6889995"/>
            <a:ext cx="230833" cy="151967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8893" name="Rounded Rectangle 18892">
            <a:extLst>
              <a:ext uri="{FF2B5EF4-FFF2-40B4-BE49-F238E27FC236}">
                <a16:creationId xmlns:a16="http://schemas.microsoft.com/office/drawing/2014/main" id="{53FC06E8-1052-D8EE-834C-71CEEA1D0C4B}"/>
              </a:ext>
            </a:extLst>
          </p:cNvPr>
          <p:cNvSpPr/>
          <p:nvPr/>
        </p:nvSpPr>
        <p:spPr>
          <a:xfrm>
            <a:off x="2311739" y="6724370"/>
            <a:ext cx="2409535" cy="1772061"/>
          </a:xfrm>
          <a:prstGeom prst="roundRect">
            <a:avLst>
              <a:gd name="adj" fmla="val 4249"/>
            </a:avLst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18897" name="Picture 18896" descr="A group of black letters&#10;&#10;AI-generated content may be incorrect.">
            <a:extLst>
              <a:ext uri="{FF2B5EF4-FFF2-40B4-BE49-F238E27FC236}">
                <a16:creationId xmlns:a16="http://schemas.microsoft.com/office/drawing/2014/main" id="{1117B79D-8770-3467-3E25-0AA9DBAF3F4A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l="2816" t="14521" r="11664" b="14130"/>
          <a:stretch>
            <a:fillRect/>
          </a:stretch>
        </p:blipFill>
        <p:spPr>
          <a:xfrm>
            <a:off x="2356896" y="6818052"/>
            <a:ext cx="2290815" cy="598634"/>
          </a:xfrm>
          <a:prstGeom prst="rect">
            <a:avLst/>
          </a:prstGeom>
        </p:spPr>
      </p:pic>
      <p:sp>
        <p:nvSpPr>
          <p:cNvPr id="18898" name="Rounded Rectangle 18897">
            <a:extLst>
              <a:ext uri="{FF2B5EF4-FFF2-40B4-BE49-F238E27FC236}">
                <a16:creationId xmlns:a16="http://schemas.microsoft.com/office/drawing/2014/main" id="{BAB2E84A-EF5B-3A19-B929-6E5F5A96C759}"/>
              </a:ext>
            </a:extLst>
          </p:cNvPr>
          <p:cNvSpPr/>
          <p:nvPr/>
        </p:nvSpPr>
        <p:spPr>
          <a:xfrm>
            <a:off x="4223993" y="6978544"/>
            <a:ext cx="332111" cy="14106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900" name="Rounded Rectangle 18899">
            <a:extLst>
              <a:ext uri="{FF2B5EF4-FFF2-40B4-BE49-F238E27FC236}">
                <a16:creationId xmlns:a16="http://schemas.microsoft.com/office/drawing/2014/main" id="{0C27D113-E4B3-E3A3-376F-9A6FC1AC595B}"/>
              </a:ext>
            </a:extLst>
          </p:cNvPr>
          <p:cNvSpPr/>
          <p:nvPr/>
        </p:nvSpPr>
        <p:spPr>
          <a:xfrm>
            <a:off x="2414763" y="7540270"/>
            <a:ext cx="2203488" cy="25866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将</a:t>
            </a:r>
            <a:r>
              <a:rPr lang="en-US" sz="9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 C→T </a:t>
            </a:r>
            <a:r>
              <a:rPr lang="en-CN" sz="900" dirty="0">
                <a:effectLst>
                  <a:outerShdw blurRad="12700" dist="25400" dir="2700000" algn="tl" rotWithShape="0">
                    <a:prstClr val="black">
                      <a:alpha val="40000"/>
                    </a:prstClr>
                  </a:outerShdw>
                </a:effectLst>
              </a:rPr>
              <a:t>的替换参数修改成两个独立部分</a:t>
            </a:r>
          </a:p>
        </p:txBody>
      </p:sp>
      <p:sp>
        <p:nvSpPr>
          <p:cNvPr id="18902" name="TextBox 18901">
            <a:extLst>
              <a:ext uri="{FF2B5EF4-FFF2-40B4-BE49-F238E27FC236}">
                <a16:creationId xmlns:a16="http://schemas.microsoft.com/office/drawing/2014/main" id="{EC630D6A-5502-9329-5BB1-E2618A01ACDB}"/>
              </a:ext>
            </a:extLst>
          </p:cNvPr>
          <p:cNvSpPr txBox="1"/>
          <p:nvPr/>
        </p:nvSpPr>
        <p:spPr>
          <a:xfrm>
            <a:off x="2322326" y="8046043"/>
            <a:ext cx="11288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800" b="1" dirty="0">
                <a:solidFill>
                  <a:schemeClr val="accent2">
                    <a:lumMod val="50000"/>
                  </a:schemeClr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是否在 TpC 上下文内</a:t>
            </a:r>
          </a:p>
        </p:txBody>
      </p:sp>
      <p:pic>
        <p:nvPicPr>
          <p:cNvPr id="18903" name="Graphic 18902" descr="Arrow Down with solid fill">
            <a:extLst>
              <a:ext uri="{FF2B5EF4-FFF2-40B4-BE49-F238E27FC236}">
                <a16:creationId xmlns:a16="http://schemas.microsoft.com/office/drawing/2014/main" id="{52B847AE-531E-42D2-E315-ABF650152BF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14077987">
            <a:off x="3342706" y="7979497"/>
            <a:ext cx="180000" cy="150799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904" name="Graphic 18903" descr="Arrow Down with solid fill">
            <a:extLst>
              <a:ext uri="{FF2B5EF4-FFF2-40B4-BE49-F238E27FC236}">
                <a16:creationId xmlns:a16="http://schemas.microsoft.com/office/drawing/2014/main" id="{8C93DE82-F309-9676-E1DC-AA25F4D7FF9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18003373">
            <a:off x="3349213" y="8188375"/>
            <a:ext cx="180000" cy="150799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906" name="Picture 18905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60450094-35FC-2443-4C3D-7D87EAF0B83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546285" y="7907152"/>
            <a:ext cx="781423" cy="206142"/>
          </a:xfrm>
          <a:prstGeom prst="rect">
            <a:avLst/>
          </a:prstGeom>
        </p:spPr>
      </p:pic>
      <p:pic>
        <p:nvPicPr>
          <p:cNvPr id="18908" name="Picture 18907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5166F391-3AD7-1914-73A1-77EA077C11D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551072" y="8186676"/>
            <a:ext cx="941566" cy="192060"/>
          </a:xfrm>
          <a:prstGeom prst="rect">
            <a:avLst/>
          </a:prstGeom>
        </p:spPr>
      </p:pic>
      <p:sp>
        <p:nvSpPr>
          <p:cNvPr id="18911" name="Rounded Rectangle 18910">
            <a:extLst>
              <a:ext uri="{FF2B5EF4-FFF2-40B4-BE49-F238E27FC236}">
                <a16:creationId xmlns:a16="http://schemas.microsoft.com/office/drawing/2014/main" id="{16C5BCF7-1403-352B-C1AD-11697FF367B0}"/>
              </a:ext>
            </a:extLst>
          </p:cNvPr>
          <p:cNvSpPr/>
          <p:nvPr/>
        </p:nvSpPr>
        <p:spPr>
          <a:xfrm>
            <a:off x="811365" y="6728623"/>
            <a:ext cx="1414600" cy="1313177"/>
          </a:xfrm>
          <a:prstGeom prst="roundRect">
            <a:avLst>
              <a:gd name="adj" fmla="val 4249"/>
            </a:avLst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18910" name="Picture 18909" descr="A diagram of a dna structure&#10;&#10;AI-generated content may be incorrect.">
            <a:extLst>
              <a:ext uri="{FF2B5EF4-FFF2-40B4-BE49-F238E27FC236}">
                <a16:creationId xmlns:a16="http://schemas.microsoft.com/office/drawing/2014/main" id="{DE4A0A4B-CEAE-DF78-5BF2-0CAA7AF3C509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l="4346" t="5184" r="5982" b="3744"/>
          <a:stretch>
            <a:fillRect/>
          </a:stretch>
        </p:blipFill>
        <p:spPr>
          <a:xfrm>
            <a:off x="872192" y="6770785"/>
            <a:ext cx="1284267" cy="1212444"/>
          </a:xfrm>
          <a:prstGeom prst="rect">
            <a:avLst/>
          </a:prstGeom>
        </p:spPr>
      </p:pic>
      <p:sp>
        <p:nvSpPr>
          <p:cNvPr id="18912" name="Bent Arrow 18911">
            <a:extLst>
              <a:ext uri="{FF2B5EF4-FFF2-40B4-BE49-F238E27FC236}">
                <a16:creationId xmlns:a16="http://schemas.microsoft.com/office/drawing/2014/main" id="{BAC51D15-D4D3-1A57-8125-6C8A681F5C89}"/>
              </a:ext>
            </a:extLst>
          </p:cNvPr>
          <p:cNvSpPr/>
          <p:nvPr/>
        </p:nvSpPr>
        <p:spPr>
          <a:xfrm rot="16200000">
            <a:off x="1354207" y="7630098"/>
            <a:ext cx="376956" cy="1340983"/>
          </a:xfrm>
          <a:prstGeom prst="bentArrow">
            <a:avLst>
              <a:gd name="adj1" fmla="val 9701"/>
              <a:gd name="adj2" fmla="val 12251"/>
              <a:gd name="adj3" fmla="val 18200"/>
              <a:gd name="adj4" fmla="val 42050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8913" name="TextBox 18912">
            <a:extLst>
              <a:ext uri="{FF2B5EF4-FFF2-40B4-BE49-F238E27FC236}">
                <a16:creationId xmlns:a16="http://schemas.microsoft.com/office/drawing/2014/main" id="{64D96142-959D-C491-7AEA-6D720EE950D8}"/>
              </a:ext>
            </a:extLst>
          </p:cNvPr>
          <p:cNvSpPr txBox="1"/>
          <p:nvPr/>
        </p:nvSpPr>
        <p:spPr>
          <a:xfrm>
            <a:off x="954625" y="8103264"/>
            <a:ext cx="141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800" dirty="0">
                <a:solidFill>
                  <a:schemeClr val="accent2">
                    <a:lumMod val="50000"/>
                  </a:schemeClr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反向验证</a:t>
            </a:r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altLang="zh-CN" sz="800" dirty="0">
                <a:solidFill>
                  <a:schemeClr val="accent2">
                    <a:lumMod val="50000"/>
                  </a:schemeClr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APOBEC3</a:t>
            </a:r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CN" sz="800" dirty="0">
                <a:solidFill>
                  <a:schemeClr val="accent2">
                    <a:lumMod val="50000"/>
                  </a:schemeClr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在宿主内进化过程中的强诱变力</a:t>
            </a:r>
          </a:p>
        </p:txBody>
      </p:sp>
      <p:sp>
        <p:nvSpPr>
          <p:cNvPr id="18916" name="Left Arrow 18915">
            <a:extLst>
              <a:ext uri="{FF2B5EF4-FFF2-40B4-BE49-F238E27FC236}">
                <a16:creationId xmlns:a16="http://schemas.microsoft.com/office/drawing/2014/main" id="{4A62579B-4320-7494-9942-464120AEEB28}"/>
              </a:ext>
            </a:extLst>
          </p:cNvPr>
          <p:cNvSpPr/>
          <p:nvPr/>
        </p:nvSpPr>
        <p:spPr>
          <a:xfrm rot="16200000">
            <a:off x="3342937" y="6634127"/>
            <a:ext cx="230833" cy="151967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8918" name="Left Arrow 18917">
            <a:extLst>
              <a:ext uri="{FF2B5EF4-FFF2-40B4-BE49-F238E27FC236}">
                <a16:creationId xmlns:a16="http://schemas.microsoft.com/office/drawing/2014/main" id="{23D16D3F-8A70-0CF4-CC53-60532BE679B0}"/>
              </a:ext>
            </a:extLst>
          </p:cNvPr>
          <p:cNvSpPr/>
          <p:nvPr/>
        </p:nvSpPr>
        <p:spPr>
          <a:xfrm rot="16200000">
            <a:off x="1151278" y="6637389"/>
            <a:ext cx="230833" cy="151967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8919" name="Left Arrow 18918">
            <a:extLst>
              <a:ext uri="{FF2B5EF4-FFF2-40B4-BE49-F238E27FC236}">
                <a16:creationId xmlns:a16="http://schemas.microsoft.com/office/drawing/2014/main" id="{90E5E87D-A4D2-42E7-F994-634C00925103}"/>
              </a:ext>
            </a:extLst>
          </p:cNvPr>
          <p:cNvSpPr/>
          <p:nvPr/>
        </p:nvSpPr>
        <p:spPr>
          <a:xfrm rot="10800000">
            <a:off x="2566393" y="6315416"/>
            <a:ext cx="230833" cy="151967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8917" name="Rounded Rectangle 18916">
            <a:extLst>
              <a:ext uri="{FF2B5EF4-FFF2-40B4-BE49-F238E27FC236}">
                <a16:creationId xmlns:a16="http://schemas.microsoft.com/office/drawing/2014/main" id="{2A5B1A04-87DC-8E6C-252C-032816BBD4B1}"/>
              </a:ext>
            </a:extLst>
          </p:cNvPr>
          <p:cNvSpPr/>
          <p:nvPr/>
        </p:nvSpPr>
        <p:spPr>
          <a:xfrm>
            <a:off x="804042" y="6140675"/>
            <a:ext cx="1807988" cy="48377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900" dirty="0"/>
              <a:t>APOBEC3 </a:t>
            </a:r>
            <a:r>
              <a:rPr lang="en-CN" sz="900" dirty="0"/>
              <a:t>催化胞嘧啶脱氨主要发生在</a:t>
            </a:r>
            <a:r>
              <a:rPr lang="en-US" sz="900" dirty="0"/>
              <a:t> TpC </a:t>
            </a:r>
            <a:r>
              <a:rPr lang="en-CN" sz="900" dirty="0"/>
              <a:t>三联核酸上下文中</a:t>
            </a:r>
          </a:p>
        </p:txBody>
      </p:sp>
      <p:sp>
        <p:nvSpPr>
          <p:cNvPr id="18920" name="Left Arrow 18919">
            <a:extLst>
              <a:ext uri="{FF2B5EF4-FFF2-40B4-BE49-F238E27FC236}">
                <a16:creationId xmlns:a16="http://schemas.microsoft.com/office/drawing/2014/main" id="{178D72C9-A642-C9BC-DC86-3E310849BF42}"/>
              </a:ext>
            </a:extLst>
          </p:cNvPr>
          <p:cNvSpPr/>
          <p:nvPr/>
        </p:nvSpPr>
        <p:spPr>
          <a:xfrm rot="10800000">
            <a:off x="4134488" y="6310692"/>
            <a:ext cx="230833" cy="151967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8888" name="Rounded Rectangle 18887">
            <a:extLst>
              <a:ext uri="{FF2B5EF4-FFF2-40B4-BE49-F238E27FC236}">
                <a16:creationId xmlns:a16="http://schemas.microsoft.com/office/drawing/2014/main" id="{F939B5A7-C1C9-87CC-0961-F208FF6103F6}"/>
              </a:ext>
            </a:extLst>
          </p:cNvPr>
          <p:cNvSpPr/>
          <p:nvPr/>
        </p:nvSpPr>
        <p:spPr>
          <a:xfrm>
            <a:off x="2817905" y="6140675"/>
            <a:ext cx="1337706" cy="4914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CN" sz="900" dirty="0"/>
              <a:t>基于 GTR 开发上下文依赖的核酸替换模型</a:t>
            </a:r>
          </a:p>
        </p:txBody>
      </p:sp>
      <p:sp>
        <p:nvSpPr>
          <p:cNvPr id="18921" name="Rounded Rectangle 18920">
            <a:extLst>
              <a:ext uri="{FF2B5EF4-FFF2-40B4-BE49-F238E27FC236}">
                <a16:creationId xmlns:a16="http://schemas.microsoft.com/office/drawing/2014/main" id="{941473CF-B820-21CF-673A-A3F6D9E88597}"/>
              </a:ext>
            </a:extLst>
          </p:cNvPr>
          <p:cNvSpPr/>
          <p:nvPr/>
        </p:nvSpPr>
        <p:spPr>
          <a:xfrm>
            <a:off x="4400979" y="6141150"/>
            <a:ext cx="1801443" cy="4914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CN" sz="900" dirty="0"/>
              <a:t>区分</a:t>
            </a:r>
            <a:r>
              <a:rPr lang="en-US" sz="900" dirty="0"/>
              <a:t> APOBEC3 </a:t>
            </a:r>
            <a:r>
              <a:rPr lang="en-CN" sz="900" dirty="0"/>
              <a:t>诱导的高频突变和真实的小片段重组信号</a:t>
            </a:r>
          </a:p>
        </p:txBody>
      </p:sp>
      <p:sp>
        <p:nvSpPr>
          <p:cNvPr id="18922" name="Rounded Rectangle 18921">
            <a:extLst>
              <a:ext uri="{FF2B5EF4-FFF2-40B4-BE49-F238E27FC236}">
                <a16:creationId xmlns:a16="http://schemas.microsoft.com/office/drawing/2014/main" id="{566722B3-9101-D54A-42BB-5D5C71A7DF0A}"/>
              </a:ext>
            </a:extLst>
          </p:cNvPr>
          <p:cNvSpPr/>
          <p:nvPr/>
        </p:nvSpPr>
        <p:spPr>
          <a:xfrm>
            <a:off x="4794714" y="7176647"/>
            <a:ext cx="1414600" cy="1313177"/>
          </a:xfrm>
          <a:prstGeom prst="roundRect">
            <a:avLst>
              <a:gd name="adj" fmla="val 4249"/>
            </a:avLst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18924" name="Picture 18923" descr="A diagram of a sequence of dna&#10;&#10;AI-generated content may be incorrect.">
            <a:extLst>
              <a:ext uri="{FF2B5EF4-FFF2-40B4-BE49-F238E27FC236}">
                <a16:creationId xmlns:a16="http://schemas.microsoft.com/office/drawing/2014/main" id="{589D7021-0D91-2B81-C44D-151BB37DF442}"/>
              </a:ext>
            </a:extLst>
          </p:cNvPr>
          <p:cNvPicPr>
            <a:picLocks noChangeAspect="1"/>
          </p:cNvPicPr>
          <p:nvPr/>
        </p:nvPicPr>
        <p:blipFill>
          <a:blip r:embed="rId45"/>
          <a:srcRect l="2786" r="1956"/>
          <a:stretch>
            <a:fillRect/>
          </a:stretch>
        </p:blipFill>
        <p:spPr>
          <a:xfrm>
            <a:off x="4815844" y="7237166"/>
            <a:ext cx="1364202" cy="763157"/>
          </a:xfrm>
          <a:prstGeom prst="rect">
            <a:avLst/>
          </a:prstGeom>
        </p:spPr>
      </p:pic>
      <p:sp>
        <p:nvSpPr>
          <p:cNvPr id="18925" name="TextBox 18924">
            <a:extLst>
              <a:ext uri="{FF2B5EF4-FFF2-40B4-BE49-F238E27FC236}">
                <a16:creationId xmlns:a16="http://schemas.microsoft.com/office/drawing/2014/main" id="{4E3CF256-3E1C-629C-45C4-E51C58F3178E}"/>
              </a:ext>
            </a:extLst>
          </p:cNvPr>
          <p:cNvSpPr txBox="1"/>
          <p:nvPr/>
        </p:nvSpPr>
        <p:spPr>
          <a:xfrm>
            <a:off x="4794714" y="8031746"/>
            <a:ext cx="1413759" cy="378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CN" sz="800" dirty="0">
                <a:solidFill>
                  <a:schemeClr val="accent2">
                    <a:lumMod val="50000"/>
                  </a:schemeClr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采用基于滑动窗口的局部似然比对方法进行重组探测</a:t>
            </a:r>
          </a:p>
        </p:txBody>
      </p:sp>
      <p:sp>
        <p:nvSpPr>
          <p:cNvPr id="18928" name="Left Arrow 18927">
            <a:extLst>
              <a:ext uri="{FF2B5EF4-FFF2-40B4-BE49-F238E27FC236}">
                <a16:creationId xmlns:a16="http://schemas.microsoft.com/office/drawing/2014/main" id="{71D6483E-05E8-1ADA-1FE0-F9D009F36A7D}"/>
              </a:ext>
            </a:extLst>
          </p:cNvPr>
          <p:cNvSpPr/>
          <p:nvPr/>
        </p:nvSpPr>
        <p:spPr>
          <a:xfrm rot="5400000">
            <a:off x="5411292" y="6713481"/>
            <a:ext cx="230833" cy="151967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8926" name="Rounded Rectangle 18925">
            <a:extLst>
              <a:ext uri="{FF2B5EF4-FFF2-40B4-BE49-F238E27FC236}">
                <a16:creationId xmlns:a16="http://schemas.microsoft.com/office/drawing/2014/main" id="{557BB740-32DE-E167-FFB8-7A1FFF211500}"/>
              </a:ext>
            </a:extLst>
          </p:cNvPr>
          <p:cNvSpPr/>
          <p:nvPr/>
        </p:nvSpPr>
        <p:spPr>
          <a:xfrm>
            <a:off x="4932854" y="6864170"/>
            <a:ext cx="1269568" cy="19767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CN" sz="900" dirty="0"/>
              <a:t>排除</a:t>
            </a:r>
            <a:r>
              <a:rPr lang="en-US" sz="900" dirty="0"/>
              <a:t> C→T </a:t>
            </a:r>
            <a:r>
              <a:rPr lang="en-US" sz="900" dirty="0" err="1"/>
              <a:t>超</a:t>
            </a:r>
            <a:r>
              <a:rPr lang="en-CN" sz="900" dirty="0"/>
              <a:t>突变干扰</a:t>
            </a:r>
          </a:p>
        </p:txBody>
      </p:sp>
    </p:spTree>
    <p:extLst>
      <p:ext uri="{BB962C8B-B14F-4D97-AF65-F5344CB8AC3E}">
        <p14:creationId xmlns:p14="http://schemas.microsoft.com/office/powerpoint/2010/main" val="1814931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800</TotalTime>
  <Words>93</Words>
  <Application>Microsoft Macintosh PowerPoint</Application>
  <PresentationFormat>Custom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Ruixuan WANG</dc:creator>
  <cp:lastModifiedBy>Ruixuan WANG</cp:lastModifiedBy>
  <cp:revision>1</cp:revision>
  <dcterms:created xsi:type="dcterms:W3CDTF">2025-08-20T07:23:23Z</dcterms:created>
  <dcterms:modified xsi:type="dcterms:W3CDTF">2025-08-22T02:17:25Z</dcterms:modified>
</cp:coreProperties>
</file>